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htNPmL0HD1aCR2Koo1gz3lkcHG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795BF2-443C-4368-B68E-485FE1FD6140}">
  <a:tblStyle styleId="{6A795BF2-443C-4368-B68E-485FE1FD61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1414E71-B8EF-4966-A618-47933946EE9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7506f74f1c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7506f74f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17506f74f1c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7506f74f1c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7506f74f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17506f74f1c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079b6affb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f079b6aff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1f079b6affb_0_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079b6affb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079b6af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1f079b6affb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74a3aff5ff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74a3aff5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174a3aff5ff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74a3aff5ff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74a3aff5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174a3aff5ff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74a3aff5ff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74a3aff5f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174a3aff5ff_0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f079b6affb_0_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f079b6af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1f079b6affb_0_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079b6affb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f079b6af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f079b6affb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079b6affb_1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f079b6aff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1f079b6affb_1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f079b6affb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f079b6aff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f079b6affb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041f7bfed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f041f7bfe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1f041f7bfed_0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f079b6affb_0_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f079b6aff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1f079b6affb_0_1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f041f7bfed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f041f7bfe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1f041f7bfed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f079b6affb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f079b6aff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1f079b6affb_0_1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f079b6affb_0_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f079b6aff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1f079b6affb_0_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f079b6affb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f079b6af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1f079b6affb_0_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942bce08ea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942bce08e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1942bce08ea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f041f7bfed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f041f7bf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1f041f7bfed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09f357b36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09f357b3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209f357b36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09f357b61d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09f357b6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209f357b61d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f079b6affb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f079b6af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1f079b6affb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fd25c29522_1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fd25c29522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1fd25c29522_1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fd25c29522_1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fd25c29522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1fd25c29522_1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fd25c2952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fd25c295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1fd25c2952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fd25c29522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fd25c295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1fd25c29522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fd25c29522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fd25c2952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1fd25c29522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fd25c29522_1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fd25c2952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1fd25c29522_1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fd25c29522_1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fd25c29522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1fd25c29522_1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fd25c29522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fd25c295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1fd25c29522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fd25c29522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fd25c2952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1fd25c29522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en.wikipedia.org/wiki/DC-to-DC_converter" TargetMode="External"/><Relationship Id="rId4" Type="http://schemas.openxmlformats.org/officeDocument/2006/relationships/hyperlink" Target="https://archive.nptel.ac.in/courses/108/108/108108036/" TargetMode="External"/><Relationship Id="rId9" Type="http://schemas.openxmlformats.org/officeDocument/2006/relationships/hyperlink" Target="https://github.com/chirantan-paul/CAPSTONE" TargetMode="External"/><Relationship Id="rId5" Type="http://schemas.openxmlformats.org/officeDocument/2006/relationships/hyperlink" Target="https://www.teachmemicro.com/arduino-pid-control-tutorial/" TargetMode="External"/><Relationship Id="rId6" Type="http://schemas.openxmlformats.org/officeDocument/2006/relationships/hyperlink" Target="https://www.youtube.com/watch?v=aSO43xxQ9UE" TargetMode="External"/><Relationship Id="rId7" Type="http://schemas.openxmlformats.org/officeDocument/2006/relationships/hyperlink" Target="https://www.youtube.com/watch?v=6MxLSAUsGVc" TargetMode="External"/><Relationship Id="rId8" Type="http://schemas.openxmlformats.org/officeDocument/2006/relationships/hyperlink" Target="https://chirantan-paul-capstone-capstone-app-snzdwx.streamlit.app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762000" y="3048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NON ISOLATED POWER CONVERTER FOR MICROGRIDS WITH IMPLEMENTATIONS OF IOT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0" y="2057400"/>
            <a:ext cx="9144000" cy="251460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>
                <a:solidFill>
                  <a:schemeClr val="lt1"/>
                </a:solidFill>
              </a:rPr>
              <a:t>EEE 4099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>
                <a:solidFill>
                  <a:schemeClr val="lt1"/>
                </a:solidFill>
              </a:rPr>
              <a:t>Guide - Nilanjan Tewari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>
                <a:solidFill>
                  <a:schemeClr val="lt1"/>
                </a:solidFill>
              </a:rPr>
              <a:t>Titash Banerjee - 19BEE1052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>
                <a:solidFill>
                  <a:schemeClr val="lt1"/>
                </a:solidFill>
              </a:rPr>
              <a:t>Chirantan Paul - 19BEE1079</a:t>
            </a:r>
            <a:br>
              <a:rPr b="1" lang="en-US">
                <a:solidFill>
                  <a:schemeClr val="lt1"/>
                </a:solidFill>
              </a:rPr>
            </a:br>
            <a:r>
              <a:rPr b="1" lang="en-US">
                <a:solidFill>
                  <a:schemeClr val="lt1"/>
                </a:solidFill>
              </a:rPr>
              <a:t>Mujeeb Javed-19BEE1011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357" y="4765339"/>
            <a:ext cx="4115363" cy="1397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274638"/>
            <a:ext cx="8229600" cy="73152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Our project proposes a non-isolated DC-DC converter with high voltage gain at comparatively low duty ratio for renewable energy applications.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 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So it mainly proposes a different topology for high output voltage gain boost converters.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Usage of low duty ratio for high voltage gain requirement makes a considerable impact in reducing the conduction loss of the switch. 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  The single switch structure makes the converter attractive due to easy   implementation of control algorithm during dynamic conditions. 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The control algorithm will be implemented in a arduino microcontroller.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We will measure voltage and current across the output load, thus calculating the power across the given load, and this application will be displayed in a web based application using IoT.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-33654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800">
                <a:latin typeface="Arial"/>
                <a:ea typeface="Arial"/>
                <a:cs typeface="Arial"/>
                <a:sym typeface="Arial"/>
              </a:rPr>
              <a:t>All these topographies make this converter suitable for renewable energy sources like fuel cell, solar PV etc. with low output voltage. </a:t>
            </a:r>
            <a:endParaRPr sz="68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457200" y="274638"/>
            <a:ext cx="8229600" cy="73152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Circuit Diagram </a:t>
            </a:r>
            <a:endParaRPr/>
          </a:p>
        </p:txBody>
      </p:sp>
      <p:sp>
        <p:nvSpPr>
          <p:cNvPr id="108" name="Google Shape;10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050" y="1688725"/>
            <a:ext cx="8746849" cy="37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7506f74f1c_0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 1</a:t>
            </a:r>
            <a:endParaRPr/>
          </a:p>
        </p:txBody>
      </p:sp>
      <p:sp>
        <p:nvSpPr>
          <p:cNvPr id="117" name="Google Shape;117;g17506f74f1c_0_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g17506f74f1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0200"/>
            <a:ext cx="8229601" cy="41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7506f74f1c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 2</a:t>
            </a:r>
            <a:endParaRPr/>
          </a:p>
        </p:txBody>
      </p:sp>
      <p:sp>
        <p:nvSpPr>
          <p:cNvPr id="125" name="Google Shape;125;g17506f74f1c_0_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" name="Google Shape;126;g17506f74f1c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3650"/>
            <a:ext cx="8333025" cy="43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457200" y="274638"/>
            <a:ext cx="8229600" cy="73152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Circuit </a:t>
            </a:r>
            <a:r>
              <a:rPr lang="en-US">
                <a:solidFill>
                  <a:schemeClr val="lt1"/>
                </a:solidFill>
              </a:rPr>
              <a:t>Design Specification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3" name="Google Shape;133;p5"/>
          <p:cNvGraphicFramePr/>
          <p:nvPr/>
        </p:nvGraphicFramePr>
        <p:xfrm>
          <a:off x="894375" y="123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{6A795BF2-443C-4368-B68E-485FE1FD6140}</a:tableStyleId>
              </a:tblPr>
              <a:tblGrid>
                <a:gridCol w="3688525"/>
                <a:gridCol w="3688525"/>
              </a:tblGrid>
              <a:tr h="76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Specifications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6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Power rating, P0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 W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6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Voltage, V0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380 - 400 V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6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Voltage, Vin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V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6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Switching Frequency, fSW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 kHz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6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Voltage ripple, ΔV0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 5% of V0 </a:t>
                      </a:r>
                      <a:endParaRPr sz="2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079b6affb_0_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Simulink</a:t>
            </a:r>
            <a:endParaRPr/>
          </a:p>
        </p:txBody>
      </p:sp>
      <p:sp>
        <p:nvSpPr>
          <p:cNvPr id="140" name="Google Shape;140;g1f079b6affb_0_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g1f079b6affb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50"/>
            <a:ext cx="8839200" cy="41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079b6affb_0_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g1f079b6affb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75" y="1157800"/>
            <a:ext cx="8305800" cy="398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1f079b6affb_0_41"/>
          <p:cNvSpPr txBox="1"/>
          <p:nvPr/>
        </p:nvSpPr>
        <p:spPr>
          <a:xfrm>
            <a:off x="1775525" y="5617175"/>
            <a:ext cx="569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Simulation Results: Input Voltage, Output Voltage, Output Current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74a3aff5ff_0_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Design Specification</a:t>
            </a:r>
            <a:endParaRPr/>
          </a:p>
        </p:txBody>
      </p:sp>
      <p:sp>
        <p:nvSpPr>
          <p:cNvPr id="156" name="Google Shape;156;g174a3aff5ff_0_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7" name="Google Shape;157;g174a3aff5ff_0_19"/>
          <p:cNvGraphicFramePr/>
          <p:nvPr/>
        </p:nvGraphicFramePr>
        <p:xfrm>
          <a:off x="790975" y="141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{6A795BF2-443C-4368-B68E-485FE1FD6140}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Component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Component Number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Rating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Inductor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L1, L2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PCV-2-274-10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280uH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Capacitor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C1,C2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10uF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100uF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22uF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Diode(Power </a:t>
                      </a:r>
                      <a:r>
                        <a:rPr b="1" lang="en-US"/>
                        <a:t>Schottky</a:t>
                      </a:r>
                      <a:r>
                        <a:rPr b="1" lang="en-US"/>
                        <a:t> Diode)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Do.D1,D2,D3,Dint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MUR1540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Mosfet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Mosfet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IRFP4332PBF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Voltage across 600V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Voltage (Source)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35V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74a3aff5ff_0_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Circuit Design</a:t>
            </a:r>
            <a:endParaRPr/>
          </a:p>
        </p:txBody>
      </p:sp>
      <p:sp>
        <p:nvSpPr>
          <p:cNvPr id="164" name="Google Shape;164;g174a3aff5ff_0_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g174a3aff5ff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204600" y="1904926"/>
            <a:ext cx="3182899" cy="4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174a3aff5ff_0_27"/>
          <p:cNvSpPr txBox="1"/>
          <p:nvPr/>
        </p:nvSpPr>
        <p:spPr>
          <a:xfrm>
            <a:off x="264125" y="1565925"/>
            <a:ext cx="422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Double Layer PCB using Eagle Software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74a3aff5ff_0_27"/>
          <p:cNvSpPr txBox="1"/>
          <p:nvPr/>
        </p:nvSpPr>
        <p:spPr>
          <a:xfrm>
            <a:off x="4905300" y="1575350"/>
            <a:ext cx="37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Single Layer PCB layout using Express PCB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174a3aff5ff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025" y="2352150"/>
            <a:ext cx="4017299" cy="32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74a3aff5ff_0_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g174a3aff5ff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5500"/>
            <a:ext cx="4572001" cy="304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174a3aff5ff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075" y="1255500"/>
            <a:ext cx="4572001" cy="30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174a3aff5ff_0_44"/>
          <p:cNvSpPr txBox="1"/>
          <p:nvPr/>
        </p:nvSpPr>
        <p:spPr>
          <a:xfrm>
            <a:off x="368100" y="4940075"/>
            <a:ext cx="383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PCB TOP LAYER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174a3aff5ff_0_44"/>
          <p:cNvSpPr txBox="1"/>
          <p:nvPr/>
        </p:nvSpPr>
        <p:spPr>
          <a:xfrm>
            <a:off x="4925550" y="4823850"/>
            <a:ext cx="383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PCB BOTTOM LAYER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457200" y="274638"/>
            <a:ext cx="8229600" cy="73152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Hardware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3004175" y="5424150"/>
            <a:ext cx="33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Double Layer PCB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51663" y="788023"/>
            <a:ext cx="3640674" cy="4854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7"/>
          <p:cNvCxnSpPr/>
          <p:nvPr/>
        </p:nvCxnSpPr>
        <p:spPr>
          <a:xfrm flipH="1" rot="10800000">
            <a:off x="1764025" y="4556150"/>
            <a:ext cx="1028100" cy="7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7"/>
          <p:cNvCxnSpPr/>
          <p:nvPr/>
        </p:nvCxnSpPr>
        <p:spPr>
          <a:xfrm flipH="1" rot="10800000">
            <a:off x="1886650" y="3697775"/>
            <a:ext cx="1688700" cy="3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7"/>
          <p:cNvSpPr txBox="1"/>
          <p:nvPr/>
        </p:nvSpPr>
        <p:spPr>
          <a:xfrm>
            <a:off x="738850" y="4419875"/>
            <a:ext cx="11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Input Terminal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 flipH="1">
            <a:off x="6669325" y="4065750"/>
            <a:ext cx="849000" cy="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7"/>
          <p:cNvCxnSpPr/>
          <p:nvPr/>
        </p:nvCxnSpPr>
        <p:spPr>
          <a:xfrm>
            <a:off x="1707425" y="2745075"/>
            <a:ext cx="1103700" cy="1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7"/>
          <p:cNvCxnSpPr/>
          <p:nvPr/>
        </p:nvCxnSpPr>
        <p:spPr>
          <a:xfrm>
            <a:off x="1830050" y="2094200"/>
            <a:ext cx="1792200" cy="32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7"/>
          <p:cNvSpPr txBox="1"/>
          <p:nvPr/>
        </p:nvSpPr>
        <p:spPr>
          <a:xfrm>
            <a:off x="787500" y="3481300"/>
            <a:ext cx="10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Inductor 280uH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7"/>
          <p:cNvCxnSpPr/>
          <p:nvPr/>
        </p:nvCxnSpPr>
        <p:spPr>
          <a:xfrm rot="10800000">
            <a:off x="6065525" y="4490150"/>
            <a:ext cx="1735800" cy="65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7"/>
          <p:cNvSpPr txBox="1"/>
          <p:nvPr/>
        </p:nvSpPr>
        <p:spPr>
          <a:xfrm>
            <a:off x="569575" y="2478750"/>
            <a:ext cx="93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Diode MUR 1545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 rot="10800000">
            <a:off x="4895825" y="4499600"/>
            <a:ext cx="2311200" cy="9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7"/>
          <p:cNvSpPr txBox="1"/>
          <p:nvPr/>
        </p:nvSpPr>
        <p:spPr>
          <a:xfrm>
            <a:off x="787500" y="1810400"/>
            <a:ext cx="93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Capacitor 10uF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7"/>
          <p:cNvCxnSpPr/>
          <p:nvPr/>
        </p:nvCxnSpPr>
        <p:spPr>
          <a:xfrm flipH="1">
            <a:off x="6235375" y="1679125"/>
            <a:ext cx="1207500" cy="30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7"/>
          <p:cNvCxnSpPr/>
          <p:nvPr/>
        </p:nvCxnSpPr>
        <p:spPr>
          <a:xfrm rot="10800000">
            <a:off x="6848575" y="2594275"/>
            <a:ext cx="849000" cy="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7"/>
          <p:cNvSpPr txBox="1"/>
          <p:nvPr/>
        </p:nvSpPr>
        <p:spPr>
          <a:xfrm>
            <a:off x="7587400" y="1432625"/>
            <a:ext cx="88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Mosfet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IRFP 4332PBF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7761750" y="2331325"/>
            <a:ext cx="8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Driver Circuit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7697575" y="3762600"/>
            <a:ext cx="8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Output Terminal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7672200" y="5059475"/>
            <a:ext cx="10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tor 22uF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6999125" y="5440950"/>
            <a:ext cx="10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Capacitor 100uF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7"/>
          <p:cNvCxnSpPr/>
          <p:nvPr/>
        </p:nvCxnSpPr>
        <p:spPr>
          <a:xfrm rot="10800000">
            <a:off x="5141175" y="2188450"/>
            <a:ext cx="2273400" cy="114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7"/>
          <p:cNvSpPr txBox="1"/>
          <p:nvPr/>
        </p:nvSpPr>
        <p:spPr>
          <a:xfrm>
            <a:off x="7328400" y="3198538"/>
            <a:ext cx="120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Output Diode MUR 1660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079b6affb_0_1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g1f079b6affb_0_145"/>
          <p:cNvPicPr preferRelativeResize="0"/>
          <p:nvPr/>
        </p:nvPicPr>
        <p:blipFill rotWithShape="1">
          <a:blip r:embed="rId3">
            <a:alphaModFix/>
          </a:blip>
          <a:srcRect b="0" l="10048" r="0" t="0"/>
          <a:stretch/>
        </p:blipFill>
        <p:spPr>
          <a:xfrm rot="-5400000">
            <a:off x="2645588" y="75549"/>
            <a:ext cx="3852825" cy="5207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1f079b6affb_0_145"/>
          <p:cNvSpPr txBox="1"/>
          <p:nvPr/>
        </p:nvSpPr>
        <p:spPr>
          <a:xfrm>
            <a:off x="2905450" y="4858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Layer PCB</a:t>
            </a:r>
            <a:endParaRPr/>
          </a:p>
        </p:txBody>
      </p:sp>
      <p:cxnSp>
        <p:nvCxnSpPr>
          <p:cNvPr id="216" name="Google Shape;216;g1f079b6affb_0_145"/>
          <p:cNvCxnSpPr/>
          <p:nvPr/>
        </p:nvCxnSpPr>
        <p:spPr>
          <a:xfrm>
            <a:off x="1688550" y="1801750"/>
            <a:ext cx="1867800" cy="1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g1f079b6affb_0_145"/>
          <p:cNvSpPr txBox="1"/>
          <p:nvPr/>
        </p:nvSpPr>
        <p:spPr>
          <a:xfrm>
            <a:off x="438800" y="1418100"/>
            <a:ext cx="104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Inductor 280uH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g1f079b6affb_0_145"/>
          <p:cNvCxnSpPr/>
          <p:nvPr/>
        </p:nvCxnSpPr>
        <p:spPr>
          <a:xfrm rot="10800000">
            <a:off x="6140975" y="2471650"/>
            <a:ext cx="1245300" cy="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g1f079b6affb_0_145"/>
          <p:cNvCxnSpPr/>
          <p:nvPr/>
        </p:nvCxnSpPr>
        <p:spPr>
          <a:xfrm flipH="1" rot="10800000">
            <a:off x="1565925" y="2182700"/>
            <a:ext cx="1122600" cy="3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g1f079b6affb_0_145"/>
          <p:cNvSpPr txBox="1"/>
          <p:nvPr/>
        </p:nvSpPr>
        <p:spPr>
          <a:xfrm>
            <a:off x="7630975" y="1766800"/>
            <a:ext cx="94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Output Terminal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1f079b6affb_0_145"/>
          <p:cNvSpPr txBox="1"/>
          <p:nvPr/>
        </p:nvSpPr>
        <p:spPr>
          <a:xfrm>
            <a:off x="7471150" y="2371738"/>
            <a:ext cx="87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Capacitor 22uF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1f079b6affb_0_145"/>
          <p:cNvCxnSpPr/>
          <p:nvPr/>
        </p:nvCxnSpPr>
        <p:spPr>
          <a:xfrm rot="10800000">
            <a:off x="5867375" y="3244975"/>
            <a:ext cx="1688700" cy="3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g1f079b6affb_0_145"/>
          <p:cNvSpPr txBox="1"/>
          <p:nvPr/>
        </p:nvSpPr>
        <p:spPr>
          <a:xfrm>
            <a:off x="7630975" y="3121200"/>
            <a:ext cx="124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Mosfet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IRFP 4332PBF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1f079b6affb_0_145"/>
          <p:cNvCxnSpPr/>
          <p:nvPr/>
        </p:nvCxnSpPr>
        <p:spPr>
          <a:xfrm flipH="1" rot="10800000">
            <a:off x="1565925" y="3245150"/>
            <a:ext cx="1886700" cy="2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g1f079b6affb_0_145"/>
          <p:cNvCxnSpPr/>
          <p:nvPr/>
        </p:nvCxnSpPr>
        <p:spPr>
          <a:xfrm flipH="1" rot="10800000">
            <a:off x="1707425" y="2763925"/>
            <a:ext cx="1924500" cy="1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g1f079b6affb_0_145"/>
          <p:cNvSpPr txBox="1"/>
          <p:nvPr/>
        </p:nvSpPr>
        <p:spPr>
          <a:xfrm>
            <a:off x="569575" y="2478750"/>
            <a:ext cx="104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Diode MUR 1545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g1f079b6affb_0_145"/>
          <p:cNvCxnSpPr/>
          <p:nvPr/>
        </p:nvCxnSpPr>
        <p:spPr>
          <a:xfrm flipH="1">
            <a:off x="4301700" y="1122550"/>
            <a:ext cx="3150600" cy="93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g1f079b6affb_0_145"/>
          <p:cNvSpPr txBox="1"/>
          <p:nvPr/>
        </p:nvSpPr>
        <p:spPr>
          <a:xfrm>
            <a:off x="540400" y="3248825"/>
            <a:ext cx="94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Capacitor 100uF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1f079b6affb_0_145"/>
          <p:cNvSpPr txBox="1"/>
          <p:nvPr/>
        </p:nvSpPr>
        <p:spPr>
          <a:xfrm>
            <a:off x="7485675" y="764250"/>
            <a:ext cx="112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Capacitor 10uF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g1f079b6affb_0_145"/>
          <p:cNvCxnSpPr/>
          <p:nvPr/>
        </p:nvCxnSpPr>
        <p:spPr>
          <a:xfrm rot="10800000">
            <a:off x="6434925" y="2057850"/>
            <a:ext cx="1122600" cy="3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g1f079b6affb_0_145"/>
          <p:cNvSpPr txBox="1"/>
          <p:nvPr/>
        </p:nvSpPr>
        <p:spPr>
          <a:xfrm>
            <a:off x="801075" y="1924438"/>
            <a:ext cx="87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Input Terminal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079b6affb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components</a:t>
            </a:r>
            <a:endParaRPr/>
          </a:p>
        </p:txBody>
      </p:sp>
      <p:sp>
        <p:nvSpPr>
          <p:cNvPr id="238" name="Google Shape;238;g1f079b6affb_0_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g1f079b6affb_0_10"/>
          <p:cNvSpPr txBox="1"/>
          <p:nvPr/>
        </p:nvSpPr>
        <p:spPr>
          <a:xfrm>
            <a:off x="699450" y="1282925"/>
            <a:ext cx="319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MUR1660 Output Diode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g1f079b6aff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075" y="1837025"/>
            <a:ext cx="2507900" cy="1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1f079b6affb_0_10"/>
          <p:cNvSpPr txBox="1"/>
          <p:nvPr/>
        </p:nvSpPr>
        <p:spPr>
          <a:xfrm>
            <a:off x="5365825" y="1282925"/>
            <a:ext cx="27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MUR1545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1f079b6affb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5825" y="1805263"/>
            <a:ext cx="3080300" cy="22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1f079b6affb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972" y="4563075"/>
            <a:ext cx="2684975" cy="20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1f079b6affb_0_10"/>
          <p:cNvSpPr txBox="1"/>
          <p:nvPr/>
        </p:nvSpPr>
        <p:spPr>
          <a:xfrm>
            <a:off x="758250" y="3895775"/>
            <a:ext cx="308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IRFP4332PBF - MOSFET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1f079b6affb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6975" y="4635727"/>
            <a:ext cx="3198000" cy="186584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1f079b6affb_0_10"/>
          <p:cNvSpPr txBox="1"/>
          <p:nvPr/>
        </p:nvSpPr>
        <p:spPr>
          <a:xfrm>
            <a:off x="5387225" y="3895775"/>
            <a:ext cx="303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PCV-2-274-10 - </a:t>
            </a:r>
            <a:r>
              <a:rPr lang="en-US" sz="2400">
                <a:solidFill>
                  <a:schemeClr val="dk1"/>
                </a:solidFill>
              </a:rPr>
              <a:t>274uH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f079b6affb_1_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g1f079b6affb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775" y="4232271"/>
            <a:ext cx="3322125" cy="22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1f079b6affb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1425" y="4232275"/>
            <a:ext cx="21526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f079b6affb_1_9"/>
          <p:cNvSpPr txBox="1"/>
          <p:nvPr/>
        </p:nvSpPr>
        <p:spPr>
          <a:xfrm>
            <a:off x="706650" y="3575225"/>
            <a:ext cx="33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Capacitor - 100uF, 450V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f079b6affb_1_9"/>
          <p:cNvSpPr txBox="1"/>
          <p:nvPr/>
        </p:nvSpPr>
        <p:spPr>
          <a:xfrm>
            <a:off x="5716575" y="3575225"/>
            <a:ext cx="282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Cooling Fan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1f079b6affb_1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7200" y="1192076"/>
            <a:ext cx="2133600" cy="139902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1f079b6affb_1_9"/>
          <p:cNvSpPr txBox="1"/>
          <p:nvPr/>
        </p:nvSpPr>
        <p:spPr>
          <a:xfrm>
            <a:off x="4795250" y="462225"/>
            <a:ext cx="303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Capacitor - 22uF, 400V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g1f079b6affb_1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3463" y="1016325"/>
            <a:ext cx="2328575" cy="23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1f079b6affb_1_9"/>
          <p:cNvSpPr txBox="1"/>
          <p:nvPr/>
        </p:nvSpPr>
        <p:spPr>
          <a:xfrm>
            <a:off x="815550" y="46222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Capacitor - 10uF, 400V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079b6affb_0_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Driver circuit</a:t>
            </a:r>
            <a:endParaRPr/>
          </a:p>
        </p:txBody>
      </p:sp>
      <p:sp>
        <p:nvSpPr>
          <p:cNvPr id="267" name="Google Shape;267;g1f079b6affb_0_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TLP250 is an opto-coupler which amplifies the voltage from controller. It also provides optical isolation between controller and power circuit.</a:t>
            </a:r>
            <a:endParaRPr sz="2400"/>
          </a:p>
        </p:txBody>
      </p:sp>
      <p:sp>
        <p:nvSpPr>
          <p:cNvPr id="268" name="Google Shape;268;g1f079b6affb_0_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g1f079b6affb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275" y="3236674"/>
            <a:ext cx="5711676" cy="26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1f041f7bfed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469026" y="869550"/>
            <a:ext cx="3839199" cy="511889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1f041f7bfed_0_33"/>
          <p:cNvSpPr txBox="1"/>
          <p:nvPr/>
        </p:nvSpPr>
        <p:spPr>
          <a:xfrm>
            <a:off x="2741250" y="631975"/>
            <a:ext cx="366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MOSFET Driver Circuit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g1f041f7bfed_0_33"/>
          <p:cNvCxnSpPr/>
          <p:nvPr/>
        </p:nvCxnSpPr>
        <p:spPr>
          <a:xfrm flipH="1">
            <a:off x="5650575" y="3754450"/>
            <a:ext cx="1764000" cy="7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g1f041f7bfed_0_33"/>
          <p:cNvSpPr txBox="1"/>
          <p:nvPr/>
        </p:nvSpPr>
        <p:spPr>
          <a:xfrm>
            <a:off x="7290650" y="3583025"/>
            <a:ext cx="100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Input Voltage Vin (2)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g1f041f7bfed_0_33"/>
          <p:cNvCxnSpPr/>
          <p:nvPr/>
        </p:nvCxnSpPr>
        <p:spPr>
          <a:xfrm rot="10800000">
            <a:off x="5150700" y="3896000"/>
            <a:ext cx="2046900" cy="9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g1f041f7bfed_0_33"/>
          <p:cNvCxnSpPr/>
          <p:nvPr/>
        </p:nvCxnSpPr>
        <p:spPr>
          <a:xfrm flipH="1">
            <a:off x="5009000" y="2867725"/>
            <a:ext cx="2330100" cy="76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g1f041f7bfed_0_33"/>
          <p:cNvCxnSpPr/>
          <p:nvPr/>
        </p:nvCxnSpPr>
        <p:spPr>
          <a:xfrm rot="10800000">
            <a:off x="4442925" y="4169450"/>
            <a:ext cx="1943400" cy="14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g1f041f7bfed_0_33"/>
          <p:cNvSpPr txBox="1"/>
          <p:nvPr/>
        </p:nvSpPr>
        <p:spPr>
          <a:xfrm>
            <a:off x="7253200" y="4803500"/>
            <a:ext cx="94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Resistor 220 ohm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g1f041f7bfed_0_33"/>
          <p:cNvCxnSpPr/>
          <p:nvPr/>
        </p:nvCxnSpPr>
        <p:spPr>
          <a:xfrm rot="10800000">
            <a:off x="3867775" y="4414275"/>
            <a:ext cx="688500" cy="121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g1f041f7bfed_0_33"/>
          <p:cNvSpPr txBox="1"/>
          <p:nvPr/>
        </p:nvSpPr>
        <p:spPr>
          <a:xfrm>
            <a:off x="7414575" y="2580475"/>
            <a:ext cx="94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Ground Pin (3)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g1f041f7bfed_0_33"/>
          <p:cNvCxnSpPr/>
          <p:nvPr/>
        </p:nvCxnSpPr>
        <p:spPr>
          <a:xfrm flipH="1">
            <a:off x="3943175" y="2150800"/>
            <a:ext cx="3358200" cy="116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g1f041f7bfed_0_33"/>
          <p:cNvCxnSpPr/>
          <p:nvPr/>
        </p:nvCxnSpPr>
        <p:spPr>
          <a:xfrm>
            <a:off x="1141425" y="2933750"/>
            <a:ext cx="1613100" cy="16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g1f041f7bfed_0_33"/>
          <p:cNvCxnSpPr/>
          <p:nvPr/>
        </p:nvCxnSpPr>
        <p:spPr>
          <a:xfrm>
            <a:off x="1264050" y="3735575"/>
            <a:ext cx="1471500" cy="1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g1f041f7bfed_0_33"/>
          <p:cNvSpPr txBox="1"/>
          <p:nvPr/>
        </p:nvSpPr>
        <p:spPr>
          <a:xfrm>
            <a:off x="4216475" y="5671925"/>
            <a:ext cx="119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DC Voltage +ve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g1f041f7bfed_0_33"/>
          <p:cNvCxnSpPr/>
          <p:nvPr/>
        </p:nvCxnSpPr>
        <p:spPr>
          <a:xfrm flipH="1" rot="10800000">
            <a:off x="3046950" y="3999700"/>
            <a:ext cx="537600" cy="203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g1f041f7bfed_0_33"/>
          <p:cNvSpPr txBox="1"/>
          <p:nvPr/>
        </p:nvSpPr>
        <p:spPr>
          <a:xfrm>
            <a:off x="2531075" y="5980400"/>
            <a:ext cx="100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Capacitor 100uF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g1f041f7bfed_0_33"/>
          <p:cNvCxnSpPr/>
          <p:nvPr/>
        </p:nvCxnSpPr>
        <p:spPr>
          <a:xfrm flipH="1" rot="10800000">
            <a:off x="1650825" y="3895900"/>
            <a:ext cx="1650900" cy="86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g1f041f7bfed_0_33"/>
          <p:cNvCxnSpPr/>
          <p:nvPr/>
        </p:nvCxnSpPr>
        <p:spPr>
          <a:xfrm>
            <a:off x="1547050" y="1801750"/>
            <a:ext cx="1641300" cy="127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g1f041f7bfed_0_33"/>
          <p:cNvSpPr txBox="1"/>
          <p:nvPr/>
        </p:nvSpPr>
        <p:spPr>
          <a:xfrm>
            <a:off x="459225" y="4759925"/>
            <a:ext cx="119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Resistor 220 ohm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1f041f7bfed_0_33"/>
          <p:cNvSpPr txBox="1"/>
          <p:nvPr/>
        </p:nvSpPr>
        <p:spPr>
          <a:xfrm>
            <a:off x="249900" y="3583025"/>
            <a:ext cx="9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Gate pin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1f041f7bfed_0_33"/>
          <p:cNvSpPr txBox="1"/>
          <p:nvPr/>
        </p:nvSpPr>
        <p:spPr>
          <a:xfrm>
            <a:off x="322550" y="2798425"/>
            <a:ext cx="80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Source Pin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1f041f7bfed_0_33"/>
          <p:cNvSpPr txBox="1"/>
          <p:nvPr/>
        </p:nvSpPr>
        <p:spPr>
          <a:xfrm>
            <a:off x="613150" y="1374500"/>
            <a:ext cx="8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Resistor 1k ohm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1f041f7bfed_0_33"/>
          <p:cNvSpPr txBox="1"/>
          <p:nvPr/>
        </p:nvSpPr>
        <p:spPr>
          <a:xfrm>
            <a:off x="6076300" y="5777000"/>
            <a:ext cx="8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 Circuit TLP250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f041f7bfed_0_33"/>
          <p:cNvSpPr txBox="1"/>
          <p:nvPr/>
        </p:nvSpPr>
        <p:spPr>
          <a:xfrm>
            <a:off x="7500200" y="1897575"/>
            <a:ext cx="85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DC Voltage -ve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f079b6affb_0_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Driver Circuit Connection</a:t>
            </a:r>
            <a:endParaRPr/>
          </a:p>
        </p:txBody>
      </p:sp>
      <p:sp>
        <p:nvSpPr>
          <p:cNvPr id="305" name="Google Shape;305;g1f079b6affb_0_1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6" name="Google Shape;306;g1f079b6affb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525" y="1707850"/>
            <a:ext cx="5652024" cy="4563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1f041f7bfed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050" y="1045000"/>
            <a:ext cx="5361600" cy="402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1f041f7bfed_0_41"/>
          <p:cNvSpPr txBox="1"/>
          <p:nvPr/>
        </p:nvSpPr>
        <p:spPr>
          <a:xfrm>
            <a:off x="2947950" y="396200"/>
            <a:ext cx="382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PCB Testing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1f041f7bfed_0_41"/>
          <p:cNvSpPr txBox="1"/>
          <p:nvPr/>
        </p:nvSpPr>
        <p:spPr>
          <a:xfrm>
            <a:off x="1867800" y="5645575"/>
            <a:ext cx="59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Connection of Driver circuit to PCB Layout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f079b6affb_0_1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1" name="Google Shape;321;g1f079b6affb_0_102"/>
          <p:cNvPicPr preferRelativeResize="0"/>
          <p:nvPr/>
        </p:nvPicPr>
        <p:blipFill rotWithShape="1">
          <a:blip r:embed="rId3">
            <a:alphaModFix/>
          </a:blip>
          <a:srcRect b="-32660" l="1550" r="-1550" t="20388"/>
          <a:stretch/>
        </p:blipFill>
        <p:spPr>
          <a:xfrm>
            <a:off x="1640400" y="769700"/>
            <a:ext cx="5863200" cy="474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g1f079b6affb_0_102"/>
          <p:cNvCxnSpPr/>
          <p:nvPr/>
        </p:nvCxnSpPr>
        <p:spPr>
          <a:xfrm rot="10800000">
            <a:off x="7065625" y="3697800"/>
            <a:ext cx="367800" cy="112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g1f079b6affb_0_102"/>
          <p:cNvSpPr txBox="1"/>
          <p:nvPr/>
        </p:nvSpPr>
        <p:spPr>
          <a:xfrm>
            <a:off x="2980950" y="5512400"/>
            <a:ext cx="31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Single Layer PCB Testing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g1f079b6affb_0_102"/>
          <p:cNvCxnSpPr/>
          <p:nvPr/>
        </p:nvCxnSpPr>
        <p:spPr>
          <a:xfrm flipH="1" rot="10800000">
            <a:off x="990500" y="3613075"/>
            <a:ext cx="999900" cy="102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g1f079b6affb_0_102"/>
          <p:cNvCxnSpPr/>
          <p:nvPr/>
        </p:nvCxnSpPr>
        <p:spPr>
          <a:xfrm>
            <a:off x="1396125" y="2575275"/>
            <a:ext cx="2895900" cy="1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g1f079b6affb_0_102"/>
          <p:cNvCxnSpPr/>
          <p:nvPr/>
        </p:nvCxnSpPr>
        <p:spPr>
          <a:xfrm flipH="1" rot="10800000">
            <a:off x="5329800" y="3660200"/>
            <a:ext cx="9600" cy="70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g1f079b6affb_0_102"/>
          <p:cNvCxnSpPr/>
          <p:nvPr/>
        </p:nvCxnSpPr>
        <p:spPr>
          <a:xfrm flipH="1">
            <a:off x="5103525" y="1858350"/>
            <a:ext cx="2641200" cy="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g1f079b6affb_0_102"/>
          <p:cNvSpPr txBox="1"/>
          <p:nvPr/>
        </p:nvSpPr>
        <p:spPr>
          <a:xfrm>
            <a:off x="235375" y="4527450"/>
            <a:ext cx="163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Programmable Power Supply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g1f079b6affb_0_102"/>
          <p:cNvCxnSpPr/>
          <p:nvPr/>
        </p:nvCxnSpPr>
        <p:spPr>
          <a:xfrm flipH="1">
            <a:off x="6301325" y="1235750"/>
            <a:ext cx="1415100" cy="1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g1f079b6affb_0_102"/>
          <p:cNvSpPr txBox="1"/>
          <p:nvPr/>
        </p:nvSpPr>
        <p:spPr>
          <a:xfrm>
            <a:off x="496925" y="2348000"/>
            <a:ext cx="99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DC Power Supply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1f079b6affb_0_102"/>
          <p:cNvSpPr txBox="1"/>
          <p:nvPr/>
        </p:nvSpPr>
        <p:spPr>
          <a:xfrm>
            <a:off x="7744725" y="1636025"/>
            <a:ext cx="90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Arduino UNO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1f079b6affb_0_102"/>
          <p:cNvSpPr txBox="1"/>
          <p:nvPr/>
        </p:nvSpPr>
        <p:spPr>
          <a:xfrm>
            <a:off x="4957525" y="4469325"/>
            <a:ext cx="99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Single Layer PCB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f079b6affb_0_102"/>
          <p:cNvSpPr txBox="1"/>
          <p:nvPr/>
        </p:nvSpPr>
        <p:spPr>
          <a:xfrm>
            <a:off x="7074925" y="4896800"/>
            <a:ext cx="119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Resistive Load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1f079b6affb_0_102"/>
          <p:cNvSpPr txBox="1"/>
          <p:nvPr/>
        </p:nvSpPr>
        <p:spPr>
          <a:xfrm>
            <a:off x="7716425" y="1020425"/>
            <a:ext cx="82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Power DSO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g1f079b6affb_0_102"/>
          <p:cNvCxnSpPr/>
          <p:nvPr/>
        </p:nvCxnSpPr>
        <p:spPr>
          <a:xfrm flipH="1">
            <a:off x="5103525" y="2496500"/>
            <a:ext cx="2895900" cy="1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g1f079b6affb_0_102"/>
          <p:cNvSpPr txBox="1"/>
          <p:nvPr/>
        </p:nvSpPr>
        <p:spPr>
          <a:xfrm>
            <a:off x="7999425" y="2276925"/>
            <a:ext cx="90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Driver Circuit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079b6affb_0_8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3" name="Google Shape;343;g1f079b6affb_0_84"/>
          <p:cNvPicPr preferRelativeResize="0"/>
          <p:nvPr/>
        </p:nvPicPr>
        <p:blipFill rotWithShape="1">
          <a:blip r:embed="rId3">
            <a:alphaModFix/>
          </a:blip>
          <a:srcRect b="0" l="0" r="23594" t="0"/>
          <a:stretch/>
        </p:blipFill>
        <p:spPr>
          <a:xfrm>
            <a:off x="1559225" y="546300"/>
            <a:ext cx="5645224" cy="38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1f079b6affb_0_84"/>
          <p:cNvSpPr txBox="1"/>
          <p:nvPr/>
        </p:nvSpPr>
        <p:spPr>
          <a:xfrm>
            <a:off x="2552100" y="4921150"/>
            <a:ext cx="403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Double Layer Pcb Testing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g1f079b6affb_0_84"/>
          <p:cNvCxnSpPr/>
          <p:nvPr/>
        </p:nvCxnSpPr>
        <p:spPr>
          <a:xfrm flipH="1" rot="10800000">
            <a:off x="1745175" y="2490250"/>
            <a:ext cx="443400" cy="287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g1f079b6affb_0_84"/>
          <p:cNvSpPr txBox="1"/>
          <p:nvPr/>
        </p:nvSpPr>
        <p:spPr>
          <a:xfrm>
            <a:off x="802025" y="5280375"/>
            <a:ext cx="172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Programmable Power Supply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g1f079b6affb_0_84"/>
          <p:cNvCxnSpPr/>
          <p:nvPr/>
        </p:nvCxnSpPr>
        <p:spPr>
          <a:xfrm>
            <a:off x="4744950" y="2282850"/>
            <a:ext cx="378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g1f079b6affb_0_84"/>
          <p:cNvCxnSpPr/>
          <p:nvPr/>
        </p:nvCxnSpPr>
        <p:spPr>
          <a:xfrm flipH="1">
            <a:off x="4377025" y="943325"/>
            <a:ext cx="2971500" cy="135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g1f079b6affb_0_84"/>
          <p:cNvSpPr txBox="1"/>
          <p:nvPr/>
        </p:nvSpPr>
        <p:spPr>
          <a:xfrm>
            <a:off x="7485675" y="648025"/>
            <a:ext cx="140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Resistive Load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g1f079b6affb_0_84"/>
          <p:cNvCxnSpPr/>
          <p:nvPr/>
        </p:nvCxnSpPr>
        <p:spPr>
          <a:xfrm rot="10800000">
            <a:off x="5226125" y="2462175"/>
            <a:ext cx="2320500" cy="45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g1f079b6affb_0_84"/>
          <p:cNvSpPr txBox="1"/>
          <p:nvPr/>
        </p:nvSpPr>
        <p:spPr>
          <a:xfrm>
            <a:off x="7601925" y="2707450"/>
            <a:ext cx="117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Double Layer PCB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g1f079b6affb_0_84"/>
          <p:cNvCxnSpPr/>
          <p:nvPr/>
        </p:nvCxnSpPr>
        <p:spPr>
          <a:xfrm flipH="1">
            <a:off x="6801375" y="2264000"/>
            <a:ext cx="698100" cy="9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g1f079b6affb_0_84"/>
          <p:cNvCxnSpPr/>
          <p:nvPr/>
        </p:nvCxnSpPr>
        <p:spPr>
          <a:xfrm flipH="1">
            <a:off x="6726025" y="1471600"/>
            <a:ext cx="792300" cy="25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g1f079b6affb_0_84"/>
          <p:cNvSpPr txBox="1"/>
          <p:nvPr/>
        </p:nvSpPr>
        <p:spPr>
          <a:xfrm>
            <a:off x="7640975" y="2003300"/>
            <a:ext cx="68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Driver Circuit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1f079b6affb_0_84"/>
          <p:cNvSpPr txBox="1"/>
          <p:nvPr/>
        </p:nvSpPr>
        <p:spPr>
          <a:xfrm>
            <a:off x="7587400" y="1185625"/>
            <a:ext cx="121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DC Power Supply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079b6affb_0_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Expectations</a:t>
            </a:r>
            <a:endParaRPr/>
          </a:p>
        </p:txBody>
      </p:sp>
      <p:sp>
        <p:nvSpPr>
          <p:cNvPr id="362" name="Google Shape;362;g1f079b6affb_0_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3" name="Google Shape;363;g1f079b6affb_0_77"/>
          <p:cNvGraphicFramePr/>
          <p:nvPr/>
        </p:nvGraphicFramePr>
        <p:xfrm>
          <a:off x="952500" y="17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{6A795BF2-443C-4368-B68E-485FE1FD6140}</a:tableStyleId>
              </a:tblPr>
              <a:tblGrid>
                <a:gridCol w="3819975"/>
                <a:gridCol w="3819975"/>
              </a:tblGrid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Theoretical Assumption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Hardware Output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Input Voltage = </a:t>
                      </a:r>
                      <a:r>
                        <a:rPr lang="en-US"/>
                        <a:t>35V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Input Voltage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30.8V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Input Current = 200/35 = 5.714A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Input Current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7.78A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Input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Power = 200W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Input Power =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 239.624W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Output Voltage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385V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Output Voltage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384V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Output Current = 200/385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0.519A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Output Current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0.594A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Output Power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200W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Output Power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228.096W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Efficiency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200/200 = 100%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Efficiency =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228.096/239.642 = 95.1819%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4" name="Google Shape;364;g1f079b6affb_0_77"/>
          <p:cNvGraphicFramePr/>
          <p:nvPr/>
        </p:nvGraphicFramePr>
        <p:xfrm>
          <a:off x="4772475" y="550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{6A795BF2-443C-4368-B68E-485FE1FD6140}</a:tableStyleId>
              </a:tblPr>
              <a:tblGrid>
                <a:gridCol w="38199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Resistive Load = (V^2/Po) = 385*385/200 = 741.125 ohms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942bce08ea_2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g1942bce08ea_2_0"/>
          <p:cNvSpPr txBox="1"/>
          <p:nvPr/>
        </p:nvSpPr>
        <p:spPr>
          <a:xfrm>
            <a:off x="1760775" y="317713"/>
            <a:ext cx="48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1942bce08ea_2_0"/>
          <p:cNvSpPr txBox="1"/>
          <p:nvPr/>
        </p:nvSpPr>
        <p:spPr>
          <a:xfrm>
            <a:off x="1018800" y="871825"/>
            <a:ext cx="3018600" cy="5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#include &lt;TimerOne.h&gt;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int PWM = 9;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unsigned long timeelapsed;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double out;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double initpwm;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int set = 20;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void setup() {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Timer1.initialize(20);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Serial.begin(9600);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initpwm=0.59;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Timer1.pwm(PWM,(initpwm)*1023);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out=(initpwm*1023);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void loop() {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timeelapsed=millis();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if(timeelapsed&lt;10000){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   Timer1.pwm(PWM, (initpwm*1023));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}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else{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  double inp=(analogRead(A2)/28.6);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  double pw=compute(inp);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  Timer1.pwm(PWM, pw);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  }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1942bce08ea_2_0"/>
          <p:cNvSpPr txBox="1"/>
          <p:nvPr/>
        </p:nvSpPr>
        <p:spPr>
          <a:xfrm>
            <a:off x="5471300" y="871825"/>
            <a:ext cx="24903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double compute(double inp)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if(inp&gt;set){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if(out&gt;307){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  out-=10;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else{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  out=307;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else if(inp&lt;set){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if(out&lt;614){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  out+=10;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else{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  out=614;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return out;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f041f7bfed_0_45"/>
          <p:cNvSpPr txBox="1"/>
          <p:nvPr/>
        </p:nvSpPr>
        <p:spPr>
          <a:xfrm>
            <a:off x="1924050" y="594300"/>
            <a:ext cx="4775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Hardware Output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1f041f7bfed_0_45"/>
          <p:cNvSpPr txBox="1"/>
          <p:nvPr/>
        </p:nvSpPr>
        <p:spPr>
          <a:xfrm>
            <a:off x="6279400" y="1891750"/>
            <a:ext cx="2136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Channel 1:- Frequency from Mosfet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 gate source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Channel 2:-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Input Voltage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Channel 3:-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Output Voltage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4:-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Current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1f041f7bfed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00" y="1715251"/>
            <a:ext cx="5027225" cy="37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09f357b361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8" name="Google Shape;388;g209f357b36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38" y="1299475"/>
            <a:ext cx="3844775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209f357b361_0_0"/>
          <p:cNvSpPr txBox="1"/>
          <p:nvPr/>
        </p:nvSpPr>
        <p:spPr>
          <a:xfrm>
            <a:off x="531475" y="349350"/>
            <a:ext cx="781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MOSFET and TLP250 Driver circuit PWM pulses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209f357b361_0_0"/>
          <p:cNvSpPr txBox="1"/>
          <p:nvPr/>
        </p:nvSpPr>
        <p:spPr>
          <a:xfrm>
            <a:off x="2613625" y="4389550"/>
            <a:ext cx="3648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1:-Voltage Stress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9275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2 :-V Output Diode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9275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3:- V Intermediate Diode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9275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4:- V Output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463675" rtl="0" algn="just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209f357b361_0_0"/>
          <p:cNvSpPr txBox="1"/>
          <p:nvPr/>
        </p:nvSpPr>
        <p:spPr>
          <a:xfrm>
            <a:off x="6654475" y="3604500"/>
            <a:ext cx="251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g209f357b36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99476"/>
            <a:ext cx="3844775" cy="2868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09f357b61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9" name="Google Shape;399;g209f357b61d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52" y="1098550"/>
            <a:ext cx="5468675" cy="4114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209f357b61d_0_7"/>
          <p:cNvSpPr txBox="1"/>
          <p:nvPr/>
        </p:nvSpPr>
        <p:spPr>
          <a:xfrm>
            <a:off x="6076950" y="1433050"/>
            <a:ext cx="28548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1:-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DC1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2:-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DC2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3:-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VDE before switch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4:-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 Output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f079b6affb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7" name="Google Shape;407;g1f079b6affb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50" y="1551800"/>
            <a:ext cx="4381200" cy="32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1f079b6affb_0_30"/>
          <p:cNvSpPr txBox="1"/>
          <p:nvPr/>
        </p:nvSpPr>
        <p:spPr>
          <a:xfrm>
            <a:off x="621952" y="5008775"/>
            <a:ext cx="3744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Channel 1:- Input voltage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Channel 2:- Input Current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Channel 3:- Output Current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Channel 4:- Output Voltage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g1f079b6affb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075" y="1551800"/>
            <a:ext cx="4247699" cy="328592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1f079b6affb_0_30"/>
          <p:cNvSpPr txBox="1"/>
          <p:nvPr/>
        </p:nvSpPr>
        <p:spPr>
          <a:xfrm>
            <a:off x="5988625" y="5224875"/>
            <a:ext cx="193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Duty Cycle Set to 59%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1f079b6affb_0_30"/>
          <p:cNvSpPr txBox="1"/>
          <p:nvPr/>
        </p:nvSpPr>
        <p:spPr>
          <a:xfrm>
            <a:off x="370325" y="780525"/>
            <a:ext cx="51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Open Loop Output at 59% Duty Ratio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fd25c29522_1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IoT for Data Visualization</a:t>
            </a:r>
            <a:endParaRPr/>
          </a:p>
        </p:txBody>
      </p:sp>
      <p:sp>
        <p:nvSpPr>
          <p:cNvPr id="418" name="Google Shape;418;g1fd25c29522_1_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are implementing IoT to visualize the live data obtained from our boost converter from a remote location through connecting it to the </a:t>
            </a:r>
            <a:r>
              <a:rPr lang="en-US"/>
              <a:t>internet</a:t>
            </a:r>
            <a:r>
              <a:rPr lang="en-US"/>
              <a:t> and displaying the data in a web based application (Streamlit) via an API (Application Programming Interface) called Thingspeak.</a:t>
            </a:r>
            <a:endParaRPr/>
          </a:p>
        </p:txBody>
      </p:sp>
      <p:sp>
        <p:nvSpPr>
          <p:cNvPr id="419" name="Google Shape;419;g1fd25c29522_1_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fd25c29522_1_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to Internet</a:t>
            </a:r>
            <a:endParaRPr/>
          </a:p>
        </p:txBody>
      </p:sp>
      <p:sp>
        <p:nvSpPr>
          <p:cNvPr id="426" name="Google Shape;426;g1fd25c29522_1_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are using another set of arduino along </a:t>
            </a:r>
            <a:r>
              <a:rPr lang="en-US"/>
              <a:t>with</a:t>
            </a:r>
            <a:r>
              <a:rPr lang="en-US"/>
              <a:t> ESP8266-01 wifi module to transfer the data to Thingspeak.</a:t>
            </a:r>
            <a:endParaRPr/>
          </a:p>
        </p:txBody>
      </p:sp>
      <p:sp>
        <p:nvSpPr>
          <p:cNvPr id="427" name="Google Shape;427;g1fd25c29522_1_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8" name="Google Shape;428;g1fd25c29522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575" y="3212326"/>
            <a:ext cx="6825548" cy="31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fd25c29522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Arduino Code for Transferring Data</a:t>
            </a:r>
            <a:endParaRPr/>
          </a:p>
        </p:txBody>
      </p:sp>
      <p:sp>
        <p:nvSpPr>
          <p:cNvPr id="435" name="Google Shape;435;g1fd25c29522_0_0"/>
          <p:cNvSpPr txBox="1"/>
          <p:nvPr>
            <p:ph idx="1" type="body"/>
          </p:nvPr>
        </p:nvSpPr>
        <p:spPr>
          <a:xfrm>
            <a:off x="147475" y="1664425"/>
            <a:ext cx="3462600" cy="453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#include "WiFiEsp.h"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#include "secrets.h"			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#include "ThingSpeak.h" // always include thingspeak header file after other header files and custom macros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char ssid[] = SECRET_SSID;   // your network SSID (name) 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char pass[] = SECRET_PASS;   // your network password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int keyIndex = 0;            // your network key Index number (needed only for WEP)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WiFiEspClient  client;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// Emulate Serial1 on pins 6/7 if not present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#ifndef HAVE_HWSERIAL1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#include "SoftwareSerial.h"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SoftwareSerial Serial1(6, 7); // RX, TX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#define ESP_BAUDRATE  19200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#else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#define ESP_BAUDRATE  115200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#endif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unsigned long myChannelNumber = SECRET_CH_ID;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const char * myWriteAPIKey = SECRET_WRITE_APIKEY;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void setup() {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  //Initialize serial and wait for port to open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  Serial.begin(115200);  // Initialize serial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  while(!Serial){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    ; // wait for serial port to connect. Needed for Leonardo native USB port only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  }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00"/>
              <a:t>  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75"/>
              <a:buNone/>
            </a:pPr>
            <a:r>
              <a:rPr lang="en-US" sz="600"/>
              <a:t> </a:t>
            </a:r>
            <a:endParaRPr sz="600"/>
          </a:p>
        </p:txBody>
      </p:sp>
      <p:sp>
        <p:nvSpPr>
          <p:cNvPr id="436" name="Google Shape;436;g1fd25c29522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" name="Google Shape;437;g1fd25c29522_0_0"/>
          <p:cNvSpPr txBox="1"/>
          <p:nvPr/>
        </p:nvSpPr>
        <p:spPr>
          <a:xfrm>
            <a:off x="4461375" y="1417650"/>
            <a:ext cx="3977700" cy="53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serial for ESP module 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setEspBaudRate(ESP_BAUDRATE);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while (!Serial) 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; // wait for serial port to connect. Needed for Leonardo native USB port only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Serial.print("Searching for ESP8266...");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// initialize ESP module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WiFi.init(&amp;Serial1);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// check for the presence of the shield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if (WiFi.status() == WL_NO_SHIELD) 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Serial.println("WiFi shield not present");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don't continue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while (true);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Serial.println("found it!");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ThingSpeak.begin(client);  // Initialize ThingSpeak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loop() 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// Connect or reconnect to WiFi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if(WiFi.status() != WL_CONNECTED){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Serial.print("Attempting to connect to SSID: ");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Serial.println(SECRET_SSID);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while(WiFi.status() != WL_CONNECTED){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WiFi.begin(ssid, pass);  // Connect to WPA/WPA2 network. Change this line if using open or WEP network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Serial.print(".");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delay(5000);    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fd25c29522_0_9"/>
          <p:cNvSpPr txBox="1"/>
          <p:nvPr>
            <p:ph idx="1" type="body"/>
          </p:nvPr>
        </p:nvSpPr>
        <p:spPr>
          <a:xfrm>
            <a:off x="356900" y="581025"/>
            <a:ext cx="4911300" cy="589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83333"/>
              <a:buFont typeface="Arial"/>
              <a:buNone/>
            </a:pPr>
            <a:r>
              <a:rPr lang="en-US" sz="600"/>
              <a:t> </a:t>
            </a:r>
            <a:r>
              <a:rPr lang="en-US" sz="3600"/>
              <a:t>   Serial.println("\nConnected.");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}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double voltage = analogRead(A2);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double current = voltage/722;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double power = voltage*current;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// set the fields with the values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ThingSpeak.setField(1, voltage);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ThingSpeak.setField(2, current);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ThingSpeak.setField(3, power);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int x = ThingSpeak.writeFields(myChannelNumber, myWriteAPIKey);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if(x == 200){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Serial.println("Channel update successful.");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}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else{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Serial.println("Problem updating channel. HTTP error code " + String(x));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}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delay(20000); // Wait 20 seconds to update the channel again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}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// This function attempts to set the ESP8266 baudrate. Boards with additional hardware serial ports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// can use 115200, otherwise software serial is limited to 19200.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void setEspBaudRate(unsigned long baudrate){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long rates[6] = {115200,74880,57600,38400,19200,9600};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Serial.print("Setting ESP8266 baudrate to ");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Serial.print(baudrate);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Serial.println("...");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for(int i = 0; i &lt; 6; i++){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Serial1.begin(rates[i]);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delay(100);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Serial1.print("AT+UART_DEF=");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Serial1.print(baudrate);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Serial1.print(",8,1,0,0\r\n");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delay(100);  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}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  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  Serial1.begin(baudrate);</a:t>
            </a:r>
            <a:endParaRPr sz="3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US" sz="3600"/>
              <a:t>}</a:t>
            </a:r>
            <a:endParaRPr sz="3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1fd25c29522_0_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g1fd25c29522_0_9"/>
          <p:cNvSpPr txBox="1"/>
          <p:nvPr/>
        </p:nvSpPr>
        <p:spPr>
          <a:xfrm>
            <a:off x="5504100" y="935050"/>
            <a:ext cx="3525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// This file is for storing all of the private credentials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// and connection details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#define SECRET_SSID "Mclerry"		// replace MySSID with your WiFi network name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#define SECRET_PASS "chirupaul"	// replace MyPassword with your WiFi password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#define SECRET_CH_ID 1995845	// replace 0000000 with your channel number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#define SECRET_WRITE_APIKEY "EACF7SNEBLBLPTBC"   // replace XYZ with your channel write API Key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fd25c29522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Thingspeak API</a:t>
            </a:r>
            <a:endParaRPr/>
          </a:p>
        </p:txBody>
      </p:sp>
      <p:sp>
        <p:nvSpPr>
          <p:cNvPr id="452" name="Google Shape;452;g1fd25c29522_1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g1fd25c29522_1_0"/>
          <p:cNvSpPr txBox="1"/>
          <p:nvPr/>
        </p:nvSpPr>
        <p:spPr>
          <a:xfrm>
            <a:off x="1057275" y="1762125"/>
            <a:ext cx="2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1fd25c29522_1_0"/>
          <p:cNvSpPr txBox="1"/>
          <p:nvPr/>
        </p:nvSpPr>
        <p:spPr>
          <a:xfrm>
            <a:off x="514350" y="1858950"/>
            <a:ext cx="2876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data from arduino is stored in Thingspeak and can be accessed by Streamlit through JSON which helps in updating the data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spontaneously.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g1fd25c29522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804" y="2119387"/>
            <a:ext cx="5244023" cy="261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fd25c29522_1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Streamlit Web App</a:t>
            </a:r>
            <a:endParaRPr/>
          </a:p>
        </p:txBody>
      </p:sp>
      <p:sp>
        <p:nvSpPr>
          <p:cNvPr id="462" name="Google Shape;462;g1fd25c29522_1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3" name="Google Shape;463;g1fd25c29522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28331"/>
            <a:ext cx="8229600" cy="379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fd25c29522_1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 Section</a:t>
            </a:r>
            <a:endParaRPr/>
          </a:p>
        </p:txBody>
      </p:sp>
      <p:sp>
        <p:nvSpPr>
          <p:cNvPr id="470" name="Google Shape;470;g1fd25c29522_1_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1" name="Google Shape;471;g1fd25c29522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99" y="2029476"/>
            <a:ext cx="7746475" cy="35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fd25c29522_0_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Section</a:t>
            </a:r>
            <a:endParaRPr/>
          </a:p>
        </p:txBody>
      </p:sp>
      <p:sp>
        <p:nvSpPr>
          <p:cNvPr id="478" name="Google Shape;478;g1fd25c29522_0_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9" name="Google Shape;479;g1fd25c29522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775" y="1284900"/>
            <a:ext cx="5874552" cy="269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1fd25c29522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377" y="4113225"/>
            <a:ext cx="5763346" cy="269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fd25c29522_0_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7" name="Google Shape;487;g1fd25c29522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799" y="230475"/>
            <a:ext cx="6297427" cy="29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1fd25c29522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800" y="3429000"/>
            <a:ext cx="6297427" cy="2919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"/>
          <p:cNvSpPr txBox="1"/>
          <p:nvPr>
            <p:ph type="title"/>
          </p:nvPr>
        </p:nvSpPr>
        <p:spPr>
          <a:xfrm>
            <a:off x="457200" y="274638"/>
            <a:ext cx="8229600" cy="73152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Work Plan</a:t>
            </a:r>
            <a:endParaRPr/>
          </a:p>
        </p:txBody>
      </p:sp>
      <p:sp>
        <p:nvSpPr>
          <p:cNvPr id="494" name="Google Shape;49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  <p:graphicFrame>
        <p:nvGraphicFramePr>
          <p:cNvPr id="496" name="Google Shape;496;p8"/>
          <p:cNvGraphicFramePr/>
          <p:nvPr/>
        </p:nvGraphicFramePr>
        <p:xfrm>
          <a:off x="1016425" y="13264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{41414E71-B8EF-4966-A618-47933946EE9F}</a:tableStyleId>
              </a:tblPr>
              <a:tblGrid>
                <a:gridCol w="2325250"/>
                <a:gridCol w="990300"/>
                <a:gridCol w="990300"/>
                <a:gridCol w="1062300"/>
                <a:gridCol w="952225"/>
                <a:gridCol w="869625"/>
              </a:tblGrid>
              <a:tr h="75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Modules/ Reviews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Nov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Dec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Jan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Feb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</a:tr>
              <a:tr h="118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Module</a:t>
                      </a:r>
                      <a:r>
                        <a:rPr b="1" lang="en-US" sz="1800"/>
                        <a:t> -1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(Design and Simulation)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</a:tr>
              <a:tr h="118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Module -2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(Hardware Implementation)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</a:tr>
              <a:tr h="83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Module -3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(Testing</a:t>
                      </a:r>
                      <a:r>
                        <a:rPr b="1" lang="en-US" sz="1800"/>
                        <a:t>)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</a:tr>
              <a:tr h="75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Documentation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5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9"/>
          <p:cNvSpPr txBox="1"/>
          <p:nvPr>
            <p:ph type="title"/>
          </p:nvPr>
        </p:nvSpPr>
        <p:spPr>
          <a:xfrm>
            <a:off x="457200" y="274638"/>
            <a:ext cx="8229600" cy="73152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References</a:t>
            </a:r>
            <a:endParaRPr/>
          </a:p>
        </p:txBody>
      </p:sp>
      <p:sp>
        <p:nvSpPr>
          <p:cNvPr id="502" name="Google Shape;50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b="1" lang="en-US" sz="1400"/>
              <a:t>Non-Isolated DC-DC Converter with High Voltage Gain for DC Grid</a:t>
            </a:r>
            <a:endParaRPr b="1"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/>
              <a:t>Kapuluru Shravya , Nilanjan Tewari , Meenakshi J and Sreedevi V T Vellore Institute of Technology, Chennai Campus, Tamil Nadu, India, 60012</a:t>
            </a:r>
            <a:r>
              <a:rPr b="1" lang="en-US" sz="1400"/>
              <a:t>7</a:t>
            </a:r>
            <a:r>
              <a:rPr b="1" lang="en-US" sz="1400"/>
              <a:t> </a:t>
            </a:r>
            <a:endParaRPr b="1"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b="1"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https://en.wikipedia.org/wiki/DC-to-DC_converter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b="1" lang="en-US" sz="14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M. Feng, K. Qu, J. Zhao and M. Sun, "Non-isolated DC-DC converter with high voltage gain," </a:t>
            </a:r>
            <a:r>
              <a:rPr b="1" i="1" lang="en-US" sz="14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2016 IEEE Innovative Smart Grid Technologies - Asia (ISGT-Asia)</a:t>
            </a:r>
            <a:r>
              <a:rPr b="1" lang="en-US" sz="14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2016, pp. 730-734, doi: 10.1109/ISGT-Asia.2016.7796475.</a:t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1" lang="en-US" sz="15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https://archive.nptel.ac.in/courses/108/108/108108036/</a:t>
            </a:r>
            <a:endParaRPr b="1"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</a:pPr>
            <a:r>
              <a:rPr b="1" lang="en-US" sz="14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https://www.teachmemicro.com/arduino-pid-control-tutorial/</a:t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1" lang="en-US" sz="1400" u="sng">
                <a:solidFill>
                  <a:schemeClr val="hlink"/>
                </a:solidFill>
                <a:hlinkClick r:id="rId6"/>
              </a:rPr>
              <a:t>https://www.youtube.com/watch?v=aSO43xxQ9U</a:t>
            </a:r>
            <a:endParaRPr b="1" sz="34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•"/>
            </a:pPr>
            <a:r>
              <a:rPr b="1" lang="en-US" sz="1400" u="sng">
                <a:solidFill>
                  <a:schemeClr val="hlink"/>
                </a:solidFill>
                <a:hlinkClick r:id="rId7"/>
              </a:rPr>
              <a:t>https://www.youtube.com/watch?v=6MxLSAUsGVc</a:t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1" lang="en-US" sz="1400" u="sng">
                <a:solidFill>
                  <a:schemeClr val="hlink"/>
                </a:solidFill>
                <a:highlight>
                  <a:srgbClr val="FFFFFF"/>
                </a:highlight>
                <a:hlinkClick r:id="rId8"/>
              </a:rPr>
              <a:t>https://chirantan-paul-capstone-capstone-app-snzdwx.streamlit.app/</a:t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</a:pPr>
            <a:r>
              <a:rPr b="1" lang="en-US" sz="14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https://github.com/chirantan-paul/CAPSTONE</a:t>
            </a:r>
            <a:endParaRPr b="1" sz="14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" name="Google Shape;50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"/>
          <p:cNvSpPr txBox="1"/>
          <p:nvPr>
            <p:ph idx="1" type="subTitle"/>
          </p:nvPr>
        </p:nvSpPr>
        <p:spPr>
          <a:xfrm>
            <a:off x="0" y="2057400"/>
            <a:ext cx="9144000" cy="2514600"/>
          </a:xfrm>
          <a:prstGeom prst="rect">
            <a:avLst/>
          </a:prstGeom>
          <a:solidFill>
            <a:srgbClr val="24406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400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sz="5400">
                <a:solidFill>
                  <a:schemeClr val="lt1"/>
                </a:solidFill>
              </a:rPr>
              <a:t>Thank You</a:t>
            </a:r>
            <a:endParaRPr/>
          </a:p>
        </p:txBody>
      </p:sp>
      <p:sp>
        <p:nvSpPr>
          <p:cNvPr id="511" name="Google Shape;51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Code: Project Title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2015-11-08T14:15:26Z</dcterms:created>
  <dc:creator>VITCC</dc:creator>
</cp:coreProperties>
</file>